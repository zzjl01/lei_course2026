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3"/>
  </p:handoutMasterIdLst>
  <p:sldIdLst>
    <p:sldId id="636" r:id="rId3"/>
    <p:sldId id="1046" r:id="rId4"/>
    <p:sldId id="1047" r:id="rId6"/>
    <p:sldId id="1048" r:id="rId7"/>
    <p:sldId id="1049" r:id="rId8"/>
    <p:sldId id="1052" r:id="rId9"/>
    <p:sldId id="1055" r:id="rId10"/>
    <p:sldId id="1056" r:id="rId11"/>
    <p:sldId id="1060" r:id="rId12"/>
    <p:sldId id="1061" r:id="rId13"/>
    <p:sldId id="1062" r:id="rId14"/>
    <p:sldId id="1063" r:id="rId15"/>
    <p:sldId id="1064" r:id="rId16"/>
    <p:sldId id="1065" r:id="rId17"/>
    <p:sldId id="1066" r:id="rId18"/>
    <p:sldId id="1067" r:id="rId19"/>
    <p:sldId id="1068" r:id="rId20"/>
    <p:sldId id="1069" r:id="rId21"/>
    <p:sldId id="1070" r:id="rId22"/>
  </p:sldIdLst>
  <p:sldSz cx="12192000" cy="6858000"/>
  <p:notesSz cx="7099300" cy="10234295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FFFF00"/>
    <a:srgbClr val="FF6600"/>
    <a:srgbClr val="66FF99"/>
    <a:srgbClr val="821E6F"/>
    <a:srgbClr val="FFCC00"/>
    <a:srgbClr val="00FF00"/>
    <a:srgbClr val="99FF6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77" autoAdjust="0"/>
    <p:restoredTop sz="87257" autoAdjust="0"/>
  </p:normalViewPr>
  <p:slideViewPr>
    <p:cSldViewPr showGuides="1">
      <p:cViewPr varScale="1">
        <p:scale>
          <a:sx n="93" d="100"/>
          <a:sy n="93" d="100"/>
        </p:scale>
        <p:origin x="88" y="136"/>
      </p:cViewPr>
      <p:guideLst>
        <p:guide orient="horz" pos="2160"/>
        <p:guide pos="38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9" d="100"/>
        <a:sy n="159" d="100"/>
      </p:scale>
      <p:origin x="0" y="-58628"/>
    </p:cViewPr>
  </p:sorterViewPr>
  <p:notesViewPr>
    <p:cSldViewPr>
      <p:cViewPr varScale="1">
        <p:scale>
          <a:sx n="114" d="100"/>
          <a:sy n="114" d="100"/>
        </p:scale>
        <p:origin x="3852" y="108"/>
      </p:cViewPr>
      <p:guideLst>
        <p:guide orient="horz" pos="3223"/>
        <p:guide pos="22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6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7137" cy="51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/>
          <a:lstStyle>
            <a:lvl1pPr defTabSz="990600" eaLnBrk="1" hangingPunct="1">
              <a:defRPr sz="13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 bwMode="auto">
          <a:xfrm>
            <a:off x="4020506" y="0"/>
            <a:ext cx="3077137" cy="51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/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57F0906B-35FA-4DB0-8D43-79F9A30C2A9D}" type="datetimeFigureOut">
              <a:rPr lang="zh-CN" altLang="en-US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 bwMode="auto">
          <a:xfrm>
            <a:off x="0" y="9722392"/>
            <a:ext cx="3077137" cy="51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/>
          <a:lstStyle>
            <a:lvl1pPr defTabSz="990600" eaLnBrk="1" hangingPunct="1">
              <a:defRPr sz="13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 bwMode="auto">
          <a:xfrm>
            <a:off x="4020506" y="9722392"/>
            <a:ext cx="3077137" cy="51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/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A23A4796-4D03-4E73-9F7E-669D51149C0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9" y="4860378"/>
            <a:ext cx="5680103" cy="4606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3" tIns="45716" rIns="91433" bIns="45716" numCol="1" anchor="t" anchorCtr="0" compatLnSpc="1"/>
          <a:lstStyle/>
          <a:p>
            <a:pPr lvl="0"/>
            <a:endParaRPr lang="zh-CN" altLang="en-US" noProof="0" dirty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92"/>
            <a:ext cx="3077137" cy="51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3" tIns="45716" rIns="91433" bIns="45716" numCol="1" anchor="b" anchorCtr="0" compatLnSpc="1"/>
          <a:lstStyle>
            <a:lvl1pPr eaLnBrk="0" hangingPunct="0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06" y="9722392"/>
            <a:ext cx="3077137" cy="51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3" tIns="45716" rIns="91433" bIns="45716" numCol="1" anchor="b" anchorCtr="0" compatLnSpc="1"/>
          <a:lstStyle>
            <a:lvl1pPr algn="r" eaLnBrk="0" hangingPunct="0">
              <a:defRPr sz="1200" b="0"/>
            </a:lvl1pPr>
          </a:lstStyle>
          <a:p>
            <a:pPr>
              <a:defRPr/>
            </a:pPr>
            <a:fld id="{608A7086-8F47-4886-AA09-CEF93117AD0E}" type="slidenum">
              <a:rPr lang="zh-CN" altLang="en-US"/>
            </a:fld>
            <a:endParaRPr lang="en-US" altLang="zh-CN"/>
          </a:p>
        </p:txBody>
      </p:sp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A7086-8F47-4886-AA09-CEF93117AD0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A7086-8F47-4886-AA09-CEF93117AD0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A7086-8F47-4886-AA09-CEF93117AD0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A7086-8F47-4886-AA09-CEF93117AD0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8A7086-8F47-4886-AA09-CEF93117AD0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74059" y="91644"/>
            <a:ext cx="9550400" cy="385028"/>
          </a:xfrm>
        </p:spPr>
        <p:txBody>
          <a:bodyPr/>
          <a:lstStyle>
            <a:lvl1pPr algn="l">
              <a:defRPr sz="2400" b="1">
                <a:solidFill>
                  <a:schemeClr val="accent2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49"/>
          <p:cNvGrpSpPr/>
          <p:nvPr userDrawn="1"/>
        </p:nvGrpSpPr>
        <p:grpSpPr bwMode="auto">
          <a:xfrm>
            <a:off x="202631" y="154733"/>
            <a:ext cx="382661" cy="363149"/>
            <a:chOff x="317046" y="622300"/>
            <a:chExt cx="452438" cy="454025"/>
          </a:xfrm>
        </p:grpSpPr>
        <p:sp>
          <p:nvSpPr>
            <p:cNvPr id="9" name="任意多边形 39"/>
            <p:cNvSpPr>
              <a:spLocks noChangeArrowheads="1"/>
            </p:cNvSpPr>
            <p:nvPr/>
          </p:nvSpPr>
          <p:spPr bwMode="auto">
            <a:xfrm>
              <a:off x="317046" y="622300"/>
              <a:ext cx="339725" cy="341312"/>
            </a:xfrm>
            <a:custGeom>
              <a:avLst/>
              <a:gdLst>
                <a:gd name="T0" fmla="*/ 242662 w 487134"/>
                <a:gd name="T1" fmla="*/ 487134 h 487134"/>
                <a:gd name="T2" fmla="*/ 0 w 487134"/>
                <a:gd name="T3" fmla="*/ 487134 h 487134"/>
                <a:gd name="T4" fmla="*/ 0 w 487134"/>
                <a:gd name="T5" fmla="*/ 0 h 487134"/>
                <a:gd name="T6" fmla="*/ 487134 w 487134"/>
                <a:gd name="T7" fmla="*/ 0 h 487134"/>
                <a:gd name="T8" fmla="*/ 487134 w 487134"/>
                <a:gd name="T9" fmla="*/ 242662 h 487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7134"/>
                <a:gd name="T16" fmla="*/ 0 h 487134"/>
                <a:gd name="T17" fmla="*/ 487134 w 487134"/>
                <a:gd name="T18" fmla="*/ 487134 h 487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7134" h="487134">
                  <a:moveTo>
                    <a:pt x="242662" y="487134"/>
                  </a:moveTo>
                  <a:lnTo>
                    <a:pt x="0" y="487134"/>
                  </a:lnTo>
                  <a:lnTo>
                    <a:pt x="0" y="0"/>
                  </a:lnTo>
                  <a:lnTo>
                    <a:pt x="487134" y="0"/>
                  </a:lnTo>
                  <a:lnTo>
                    <a:pt x="487134" y="242662"/>
                  </a:lnTo>
                </a:path>
              </a:pathLst>
            </a:custGeom>
            <a:noFill/>
            <a:ln w="57150" cap="flat" cmpd="sng">
              <a:solidFill>
                <a:schemeClr val="accent5">
                  <a:lumMod val="75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 defTabSz="914400">
                <a:defRPr/>
              </a:pPr>
              <a:endParaRPr lang="zh-CN" altLang="zh-CN" sz="975" ker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544059" y="849312"/>
              <a:ext cx="225425" cy="2270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14400">
                <a:defRPr/>
              </a:pPr>
              <a:endParaRPr lang="zh-CN" altLang="zh-CN" sz="975" ker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9" y="6364026"/>
            <a:ext cx="4354464" cy="38266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10476003" y="6384440"/>
            <a:ext cx="1476648" cy="29690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6"/>
          <p:cNvSpPr>
            <a:spLocks noChangeArrowheads="1"/>
          </p:cNvSpPr>
          <p:nvPr userDrawn="1"/>
        </p:nvSpPr>
        <p:spPr bwMode="auto">
          <a:xfrm>
            <a:off x="304800" y="1851025"/>
            <a:ext cx="33528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zh-CN" b="0">
              <a:ea typeface="宋体" panose="02010600030101010101" pitchFamily="2" charset="-122"/>
            </a:endParaRPr>
          </a:p>
        </p:txBody>
      </p:sp>
      <p:pic>
        <p:nvPicPr>
          <p:cNvPr id="4" name="图片 17" descr="head_1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701"/>
            <a:ext cx="5135033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 userDrawn="1"/>
        </p:nvSpPr>
        <p:spPr bwMode="hidden">
          <a:xfrm>
            <a:off x="0" y="2492896"/>
            <a:ext cx="62992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hidden">
          <a:xfrm>
            <a:off x="5892800" y="2492896"/>
            <a:ext cx="62992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zh-CN" sz="2400" b="0">
              <a:ea typeface="宋体" panose="02010600030101010101" pitchFamily="2" charset="-122"/>
            </a:endParaRPr>
          </a:p>
        </p:txBody>
      </p:sp>
      <p:sp>
        <p:nvSpPr>
          <p:cNvPr id="7" name="Line 17"/>
          <p:cNvSpPr>
            <a:spLocks noChangeShapeType="1"/>
          </p:cNvSpPr>
          <p:nvPr userDrawn="1"/>
        </p:nvSpPr>
        <p:spPr bwMode="gray">
          <a:xfrm>
            <a:off x="1" y="908685"/>
            <a:ext cx="9648393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8" name="Line 17"/>
          <p:cNvSpPr>
            <a:spLocks noChangeShapeType="1"/>
          </p:cNvSpPr>
          <p:nvPr userDrawn="1"/>
        </p:nvSpPr>
        <p:spPr bwMode="gray">
          <a:xfrm>
            <a:off x="88900" y="6021388"/>
            <a:ext cx="1199938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b="0"/>
          </a:p>
        </p:txBody>
      </p:sp>
      <p:pic>
        <p:nvPicPr>
          <p:cNvPr id="9" name="图片 8" descr="main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743051" y="1"/>
            <a:ext cx="2448949" cy="15367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 descr="main4.jpg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 trans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46" y="1484784"/>
            <a:ext cx="3672052" cy="23042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6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Line 17"/>
          <p:cNvSpPr>
            <a:spLocks noChangeShapeType="1"/>
          </p:cNvSpPr>
          <p:nvPr/>
        </p:nvSpPr>
        <p:spPr bwMode="gray">
          <a:xfrm>
            <a:off x="1" y="423862"/>
            <a:ext cx="10382249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052514"/>
            <a:ext cx="109728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76800" y="6386514"/>
            <a:ext cx="2844800" cy="211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C38089E-1016-4C40-BCB2-903DAA6B7F93}" type="slidenum">
              <a:rPr lang="en-US" altLang="zh-CN"/>
            </a:fld>
            <a:endParaRPr lang="en-US" altLang="zh-CN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762000" y="214313"/>
            <a:ext cx="95504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2" name="Text Box 13"/>
          <p:cNvSpPr txBox="1">
            <a:spLocks noChangeArrowheads="1"/>
          </p:cNvSpPr>
          <p:nvPr/>
        </p:nvSpPr>
        <p:spPr bwMode="white">
          <a:xfrm>
            <a:off x="10871200" y="261938"/>
            <a:ext cx="1320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16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LOGO</a:t>
            </a:r>
            <a:endParaRPr lang="en-US" altLang="zh-CN" sz="16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图片 7" descr="a7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484" y="187326"/>
            <a:ext cx="1439333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7"/>
          <p:cNvSpPr>
            <a:spLocks noChangeShapeType="1"/>
          </p:cNvSpPr>
          <p:nvPr userDrawn="1"/>
        </p:nvSpPr>
        <p:spPr bwMode="gray">
          <a:xfrm>
            <a:off x="88900" y="6237288"/>
            <a:ext cx="1199938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zh-CN" altLang="en-US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160022" y="1124284"/>
            <a:ext cx="5184575" cy="1029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南京邮电大学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8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高性能计算与大数据处理研究所</a:t>
            </a:r>
            <a:endParaRPr lang="zh-CN" altLang="en-US" sz="28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849495" y="2528570"/>
            <a:ext cx="683133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手术导航项目组会汇报</a:t>
            </a:r>
            <a:endParaRPr lang="zh-CN" altLang="en-US" sz="3600" dirty="0">
              <a:solidFill>
                <a:srgbClr val="122C97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6165305"/>
            <a:ext cx="4494950" cy="526681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312024" y="4293096"/>
            <a:ext cx="3888432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altLang="zh-CN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27</a:t>
            </a:r>
            <a:r>
              <a:rPr lang="zh-CN" altLang="en-US" sz="360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3600">
              <a:solidFill>
                <a:srgbClr val="122C9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sz="3600" dirty="0">
                <a:solidFill>
                  <a:srgbClr val="122C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吴泽平</a:t>
            </a:r>
            <a:endParaRPr lang="zh-CN" altLang="en-US" sz="3600" dirty="0">
              <a:solidFill>
                <a:srgbClr val="122C9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0055" y="2348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Connector 6"/>
          <p:cNvCxnSpPr/>
          <p:nvPr/>
        </p:nvCxnSpPr>
        <p:spPr>
          <a:xfrm rot="5390177">
            <a:off x="234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7"/>
          <p:cNvSpPr/>
          <p:nvPr/>
        </p:nvSpPr>
        <p:spPr>
          <a:xfrm>
            <a:off x="7607763" y="1988706"/>
            <a:ext cx="4254576" cy="936104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>
                <a:solidFill>
                  <a:srgbClr val="000000"/>
                </a:solidFill>
              </a:rPr>
              <a:t>找了一个公开的胸部</a:t>
            </a:r>
            <a:r>
              <a:rPr lang="en-US" altLang="zh-CN">
                <a:solidFill>
                  <a:srgbClr val="000000"/>
                </a:solidFill>
              </a:rPr>
              <a:t>CT</a:t>
            </a:r>
            <a:r>
              <a:rPr lang="zh-CN" altLang="en-US">
                <a:solidFill>
                  <a:srgbClr val="000000"/>
                </a:solidFill>
              </a:rPr>
              <a:t>数据集，尝试利用</a:t>
            </a:r>
            <a:r>
              <a:rPr lang="en-US" altLang="zh-CN">
                <a:solidFill>
                  <a:srgbClr val="000000"/>
                </a:solidFill>
              </a:rPr>
              <a:t>3Dslicer</a:t>
            </a:r>
            <a:r>
              <a:rPr lang="zh-CN" altLang="en-US">
                <a:solidFill>
                  <a:srgbClr val="000000"/>
                </a:solidFill>
              </a:rPr>
              <a:t>对人体肺叶进行分割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392" y="548680"/>
            <a:ext cx="7046565" cy="49449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Connector 6"/>
          <p:cNvCxnSpPr/>
          <p:nvPr/>
        </p:nvCxnSpPr>
        <p:spPr>
          <a:xfrm rot="5390177">
            <a:off x="234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7"/>
          <p:cNvSpPr/>
          <p:nvPr/>
        </p:nvSpPr>
        <p:spPr>
          <a:xfrm>
            <a:off x="4953000" y="1778000"/>
            <a:ext cx="647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77" y="1988819"/>
            <a:ext cx="4274423" cy="37443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7909" y="1053095"/>
            <a:ext cx="4368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利用</a:t>
            </a:r>
            <a:r>
              <a:rPr lang="en-US" altLang="zh-CN"/>
              <a:t>3DSlicer</a:t>
            </a:r>
            <a:r>
              <a:rPr lang="zh-CN" altLang="en-US"/>
              <a:t>对人肺的五个肺叶进行分割，效果如图所示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Connector 6"/>
          <p:cNvCxnSpPr/>
          <p:nvPr/>
        </p:nvCxnSpPr>
        <p:spPr>
          <a:xfrm rot="5390177">
            <a:off x="234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7"/>
          <p:cNvSpPr/>
          <p:nvPr/>
        </p:nvSpPr>
        <p:spPr>
          <a:xfrm>
            <a:off x="4953000" y="1778000"/>
            <a:ext cx="647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835" y="908819"/>
            <a:ext cx="4368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未接收到猪肺数据前，计划用人肺测试一下模型重构的精度，但由于没有高精度的肺部模型作为参考，就把最开始生成出的模型作为标准对比，局部放大其中一个肺叶作为假设的误差，导出两个模型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205" y="764844"/>
            <a:ext cx="5040560" cy="21053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55" y="3141184"/>
            <a:ext cx="4694187" cy="2666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Connector 6"/>
          <p:cNvCxnSpPr/>
          <p:nvPr/>
        </p:nvCxnSpPr>
        <p:spPr>
          <a:xfrm rot="5390177">
            <a:off x="234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263352" y="1844824"/>
            <a:ext cx="5304127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测算结果非常符合预期，代码准确地捕捉到了注入的误差：</a:t>
            </a:r>
            <a:endParaRPr lang="zh-CN" altLang="en-US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/>
              <a:t>首先是 </a:t>
            </a:r>
            <a:r>
              <a:rPr lang="en-US" altLang="zh-CN" b="1"/>
              <a:t>Dice </a:t>
            </a:r>
            <a:r>
              <a:rPr lang="zh-CN" altLang="en-US" b="1"/>
              <a:t>系数（体积相似度）得分为 </a:t>
            </a:r>
            <a:r>
              <a:rPr lang="en-US" altLang="zh-CN" b="1"/>
              <a:t>0.9701</a:t>
            </a:r>
            <a:r>
              <a:rPr lang="zh-CN" altLang="en-US" b="1"/>
              <a:t>：</a:t>
            </a:r>
            <a:r>
              <a:rPr lang="zh-CN" altLang="en-US"/>
              <a:t> 因为只修改了 </a:t>
            </a:r>
            <a:r>
              <a:rPr lang="en-US" altLang="zh-CN"/>
              <a:t>5 </a:t>
            </a:r>
            <a:r>
              <a:rPr lang="zh-CN" altLang="en-US"/>
              <a:t>个肺叶中的 </a:t>
            </a:r>
            <a:r>
              <a:rPr lang="en-US" altLang="zh-CN"/>
              <a:t>1 </a:t>
            </a:r>
            <a:r>
              <a:rPr lang="zh-CN" altLang="en-US"/>
              <a:t>个，全局来看大部分体积依然是重合的，所以 </a:t>
            </a:r>
            <a:r>
              <a:rPr lang="en-US" altLang="zh-CN"/>
              <a:t>Dice </a:t>
            </a:r>
            <a:r>
              <a:rPr lang="zh-CN" altLang="en-US"/>
              <a:t>保持在较高水平，这说明指标对全局体积变化计算准确。</a:t>
            </a:r>
            <a:endParaRPr lang="zh-CN" altLang="en-US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/>
              <a:t>其次是 最大豪斯多夫距离（边缘误差）为 </a:t>
            </a:r>
            <a:r>
              <a:rPr lang="en-US" altLang="zh-CN" b="1"/>
              <a:t>5.39 mm</a:t>
            </a:r>
            <a:r>
              <a:rPr lang="zh-CN" altLang="en-US" b="1"/>
              <a:t>：</a:t>
            </a:r>
            <a:r>
              <a:rPr lang="zh-CN" altLang="en-US"/>
              <a:t> 这个指标极其敏锐地抓取到了局部放大的那个肺叶的边缘溢出距离。这说明在三维空间中，最严重的局部形变偏离了标准 </a:t>
            </a:r>
            <a:r>
              <a:rPr lang="en-US" altLang="zh-CN"/>
              <a:t>5.39 </a:t>
            </a:r>
            <a:r>
              <a:rPr lang="zh-CN" altLang="en-US"/>
              <a:t>毫米。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81496"/>
            <a:ext cx="5943764" cy="184865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5360" y="5085184"/>
            <a:ext cx="568863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这块部分</a:t>
            </a:r>
            <a:r>
              <a:rPr lang="zh-CN" altLang="en-US"/>
              <a:t>的下一步新的研究方向，视觉构建</a:t>
            </a:r>
            <a:r>
              <a:rPr lang="en-US" altLang="zh-CN"/>
              <a:t>3D</a:t>
            </a:r>
            <a:r>
              <a:rPr lang="zh-CN" altLang="en-US"/>
              <a:t>模型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cxnSp>
        <p:nvCxnSpPr>
          <p:cNvPr id="9" name="Connector 6"/>
          <p:cNvCxnSpPr/>
          <p:nvPr/>
        </p:nvCxnSpPr>
        <p:spPr>
          <a:xfrm rot="5390177">
            <a:off x="234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985" y="1346200"/>
            <a:ext cx="7289165" cy="3775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7215" y="1181735"/>
            <a:ext cx="4101465" cy="2774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>
                <a:solidFill>
                  <a:schemeClr val="bg2">
                    <a:lumMod val="10000"/>
                  </a:schemeClr>
                </a:solidFill>
              </a:rPr>
              <a:t>dicom</a:t>
            </a:r>
            <a:r>
              <a:rPr lang="zh-CN" altLang="en-US" sz="2800">
                <a:solidFill>
                  <a:schemeClr val="bg2">
                    <a:lumMod val="10000"/>
                  </a:schemeClr>
                </a:solidFill>
              </a:rPr>
              <a:t>肺分割</a:t>
            </a:r>
            <a:endParaRPr lang="zh-CN" altLang="en-US" sz="200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sz="2000">
                <a:solidFill>
                  <a:schemeClr val="bg2">
                    <a:lumMod val="10000"/>
                  </a:schemeClr>
                </a:solidFill>
              </a:rPr>
              <a:t>  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使用 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TotalSegmentator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模型提取肺区域，血管结构，气道结构初步构建6个功能性肺区（基于血管-气道拓扑的功能性肺叶近似分区）计算在正压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和正压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75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条件下的体积变化量如图所示。</a:t>
            </a:r>
            <a:endParaRPr lang="zh-CN" altLang="en-US" sz="1600">
              <a:solidFill>
                <a:schemeClr val="bg2">
                  <a:lumMod val="10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但是此功能分区还未达到解剖分区的精度，后续想通过</a:t>
            </a:r>
            <a:r>
              <a:rPr lang="en-US" altLang="zh-CN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nnUNet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训练模型进行肺分割从而做到</a:t>
            </a:r>
            <a:r>
              <a:rPr lang="zh-CN" altLang="en-US" sz="1600">
                <a:solidFill>
                  <a:schemeClr val="bg2">
                    <a:lumMod val="10000"/>
                  </a:scheme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提高精度</a:t>
            </a:r>
            <a:endParaRPr lang="zh-CN" altLang="en-US" sz="1600">
              <a:solidFill>
                <a:schemeClr val="bg2">
                  <a:lumMod val="10000"/>
                </a:scheme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180" y="44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有关</a:t>
            </a:r>
            <a:r>
              <a:rPr lang="en-US" altLang="zh-CN" sz="2400"/>
              <a:t>dicom</a:t>
            </a:r>
            <a:r>
              <a:rPr lang="zh-CN" altLang="en-US" sz="2400"/>
              <a:t>肺分割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91344" y="692696"/>
            <a:ext cx="90010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目前用模拟数据完成了算法验证。模拟了15%均匀膨胀的猪肺CT，算法成功检测到25个分叉点并全部正确匹配，平均位移4.39毫米，标准差0.83毫米。从位移向量场可以看到，箭头呈中心向外辐射分布，这符合物理膨胀规律，说明算法有效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79" y="2564493"/>
            <a:ext cx="8905974" cy="19470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3570" y="44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dicom</a:t>
            </a:r>
            <a:r>
              <a:rPr lang="zh-CN" altLang="en-US" sz="2400"/>
              <a:t>数据特征点匹配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dicom</a:t>
            </a:r>
            <a:r>
              <a:rPr lang="zh-CN" altLang="en-US"/>
              <a:t>数据特征点匹配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38089E-1016-4C40-BCB2-903DAA6B7F93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672"/>
            <a:ext cx="7632848" cy="59371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35560" y="3148941"/>
            <a:ext cx="5904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5"/>
            <a:r>
              <a:rPr lang="en-US" altLang="zh-CN" dirty="0"/>
              <a:t>         2			3</a:t>
            </a: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pPr marL="342900" indent="-342900">
              <a:buAutoNum type="arabicPlain"/>
            </a:pPr>
            <a:endParaRPr lang="en-US" altLang="zh-CN" dirty="0"/>
          </a:p>
          <a:p>
            <a:r>
              <a:rPr lang="en-US" altLang="zh-CN" dirty="0"/>
              <a:t>4			5			6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2207568" y="308682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968208" y="1269912"/>
            <a:ext cx="39124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1.3D </a:t>
            </a:r>
            <a:r>
              <a:rPr lang="zh-CN" altLang="en-US" sz="1400" dirty="0"/>
              <a:t>点云对比 </a:t>
            </a:r>
            <a:r>
              <a:rPr lang="en-US" altLang="zh-CN" sz="1400" dirty="0"/>
              <a:t>— </a:t>
            </a:r>
            <a:r>
              <a:rPr lang="zh-CN" altLang="en-US" sz="1400" dirty="0"/>
              <a:t>蓝色</a:t>
            </a:r>
            <a:r>
              <a:rPr lang="en-US" altLang="zh-CN" sz="1400" dirty="0"/>
              <a:t>=</a:t>
            </a:r>
            <a:r>
              <a:rPr lang="zh-CN" altLang="en-US" sz="1400" dirty="0"/>
              <a:t>膨胀前检测到的分叉点，红色</a:t>
            </a:r>
            <a:r>
              <a:rPr lang="en-US" altLang="zh-CN" sz="1400" dirty="0"/>
              <a:t>=</a:t>
            </a:r>
            <a:r>
              <a:rPr lang="zh-CN" altLang="en-US" sz="1400" dirty="0"/>
              <a:t>膨胀后检测到的分叉点。直观展示两次扫描中血管</a:t>
            </a:r>
            <a:r>
              <a:rPr lang="en-US" altLang="zh-CN" sz="1400" dirty="0"/>
              <a:t>/</a:t>
            </a:r>
            <a:r>
              <a:rPr lang="zh-CN" altLang="en-US" sz="1400" dirty="0"/>
              <a:t>气管分叉点的空间分布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匹配连线 </a:t>
            </a:r>
            <a:r>
              <a:rPr lang="en-US" altLang="zh-CN" sz="1400" dirty="0"/>
              <a:t>— </a:t>
            </a:r>
            <a:r>
              <a:rPr lang="zh-CN" altLang="en-US" sz="1400" dirty="0"/>
              <a:t>绿色线连接膨胀前后的对应分叉点。连线越短说明匹配越精确，连线方向反映膨胀导致的位移方向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位移分布直方图 </a:t>
            </a:r>
            <a:r>
              <a:rPr lang="en-US" altLang="zh-CN" sz="1400" dirty="0"/>
              <a:t>— </a:t>
            </a:r>
            <a:r>
              <a:rPr lang="zh-CN" altLang="en-US" sz="1400" dirty="0"/>
              <a:t>统计所有匹配点的位移大小（</a:t>
            </a:r>
            <a:r>
              <a:rPr lang="en-US" altLang="zh-CN" sz="1400" dirty="0"/>
              <a:t>mm</a:t>
            </a:r>
            <a:r>
              <a:rPr lang="zh-CN" altLang="en-US" sz="1400" dirty="0"/>
              <a:t>）的分布。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4.</a:t>
            </a:r>
            <a:r>
              <a:rPr lang="zh-CN" altLang="en-US" sz="1400" dirty="0"/>
              <a:t> </a:t>
            </a:r>
            <a:r>
              <a:rPr lang="en-US" altLang="zh-CN" sz="1400" dirty="0"/>
              <a:t>XY </a:t>
            </a:r>
            <a:r>
              <a:rPr lang="zh-CN" altLang="en-US" sz="1400" dirty="0"/>
              <a:t>平面位移向量场 </a:t>
            </a:r>
            <a:r>
              <a:rPr lang="en-US" altLang="zh-CN" sz="1400" dirty="0"/>
              <a:t>— </a:t>
            </a:r>
            <a:r>
              <a:rPr lang="zh-CN" altLang="en-US" sz="1400" dirty="0"/>
              <a:t>从膨胀前位置出发的绿色箭头，表示该分叉点在 </a:t>
            </a:r>
            <a:r>
              <a:rPr lang="en-US" altLang="zh-CN" sz="1400" dirty="0"/>
              <a:t>XY </a:t>
            </a:r>
            <a:r>
              <a:rPr lang="zh-CN" altLang="en-US" sz="1400" dirty="0"/>
              <a:t>平面上的位移方向和大小。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5.</a:t>
            </a:r>
            <a:r>
              <a:rPr lang="zh-CN" altLang="en-US" sz="1400" dirty="0"/>
              <a:t>各方向位移分量 </a:t>
            </a:r>
            <a:r>
              <a:rPr lang="en-US" altLang="zh-CN" sz="1400" dirty="0"/>
              <a:t>— X/Y/Z </a:t>
            </a:r>
            <a:r>
              <a:rPr lang="zh-CN" altLang="en-US" sz="1400" dirty="0"/>
              <a:t>三个方向位移的直方图。帮助判断膨胀是各向同性还是某个方向为主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6.</a:t>
            </a:r>
            <a:r>
              <a:rPr lang="zh-CN" altLang="en-US" sz="1400" dirty="0"/>
              <a:t>匹配质量散点图 </a:t>
            </a:r>
            <a:r>
              <a:rPr lang="en-US" altLang="zh-CN" sz="1400" dirty="0"/>
              <a:t>— </a:t>
            </a:r>
            <a:r>
              <a:rPr lang="zh-CN" altLang="en-US" sz="1400" dirty="0"/>
              <a:t>横轴</a:t>
            </a:r>
            <a:r>
              <a:rPr lang="en-US" altLang="zh-CN" sz="1400" dirty="0"/>
              <a:t>=</a:t>
            </a:r>
            <a:r>
              <a:rPr lang="zh-CN" altLang="en-US" sz="1400" dirty="0"/>
              <a:t>空间误差，纵轴</a:t>
            </a:r>
            <a:r>
              <a:rPr lang="en-US" altLang="zh-CN" sz="1400" dirty="0"/>
              <a:t>=</a:t>
            </a:r>
            <a:r>
              <a:rPr lang="zh-CN" altLang="en-US" sz="1400" dirty="0"/>
              <a:t>特征相似度。颜色深浅表示位移大小，理想点应在左上方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16" y="-92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 论文问题定义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536291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8674" y="1518004"/>
            <a:ext cx="4736345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输入：术前充气肺表面网格 + 术中塌陷肺表面少量 landmark 的三维位置。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2255886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674" y="2237599"/>
            <a:ext cx="4736345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输出：塌陷状态下整个肺表面网格各顶点的位置。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2749636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674" y="2731349"/>
            <a:ext cx="4736345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建模对象：左肺上叶、下叶分别处理；每个肺叶重建为 400 个顶点的三角网格。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pic>
        <p:nvPicPr>
          <p:cNvPr id="12" name="Image 0" descr="/mnt/data/figs/img-0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090" y="1298559"/>
            <a:ext cx="5129737" cy="443460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3" y="5778886"/>
            <a:ext cx="5531832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Fig. 1  数据处理与估计流程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" y="-92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数据采集与预处理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408281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8674" y="1389994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数据来源：11 只活体比格犬左肺，在两种支气管压力下采集增强 CT。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190203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674" y="1883744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14 cm H₂O：模拟充气肺；2 cm H₂O：模拟术中塌陷肺。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239578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674" y="2377495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实际实验使用 9 个病例；上叶、下叶分别建模。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6081" y="288953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8674" y="2871245"/>
            <a:ext cx="5193521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预处理：CT 分割 - </a:t>
            </a:r>
            <a:r>
              <a:rPr lang="zh-CN" alt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泊松曲面重建——膨胀/收缩曲面形状匹配</a:t>
            </a: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6081" y="3448473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8674" y="3430186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数据增强：在训练病例之间生成插值网格；测试病例相关插值数据不进入训练。</a:t>
            </a:r>
            <a:endParaRPr lang="en-US" sz="14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pic>
        <p:nvPicPr>
          <p:cNvPr id="14" name="Image 0" descr="/mnt/data/figs/img-0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2323" y="1353420"/>
            <a:ext cx="4248731" cy="25601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784" y="3959324"/>
            <a:ext cx="521180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Fig. 2  充气与塌陷肺网格示例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671" y="-92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Landmark 设置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43571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8674" y="1417425"/>
            <a:ext cx="4736345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 fontScale="8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landmark 放置在肺外轮廓的可测量解剖位置，而不是平坦腹侧表面。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192946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674" y="1911175"/>
            <a:ext cx="4736345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每个肺叶设置 12 个候选 landmark。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242321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674" y="2404925"/>
            <a:ext cx="4736345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3-landmark model：选择 1、3、5，均位于 </a:t>
            </a:r>
            <a:r>
              <a:rPr lang="zh-CN" alt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主要裂隙侧</a:t>
            </a: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。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6081" y="314280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8674" y="3124521"/>
            <a:ext cx="4736345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6-landmark model：选择 1、3、5、7、9、11，覆盖更大外轮廓范围。</a:t>
            </a:r>
            <a:endParaRPr lang="en-US" sz="15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pic>
        <p:nvPicPr>
          <p:cNvPr id="12" name="Image 0" descr="/mnt/data/figs/img-0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127611"/>
            <a:ext cx="5303244" cy="25936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5596015"/>
            <a:ext cx="5303244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Fig. 3  Landmark 的位置与编号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" y="-92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方法：基于高斯核的岭回归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42656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8674" y="1408281"/>
            <a:ext cx="5330674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基本思想：把每个网格顶点作为一个样本，学习“相对 landmark 位置”到“塌陷位置”的映射。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2146164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674" y="2127877"/>
            <a:ext cx="5330674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输入特征包含：目标点相对各 landmark 的向量、充气肺体积 Vinf、塌陷/充气体积比 VR。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2865759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674" y="2847472"/>
            <a:ext cx="5330674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输出为：目标点相对塌陷肺 landmark 中心点的三维向量。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6081" y="3359510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8674" y="3341223"/>
            <a:ext cx="5330674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 fontScale="9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选择核方法的原因：病例数少，核回归训练成本低，适合小样本条件。</a:t>
            </a:r>
            <a:endParaRPr lang="en-US" sz="14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3839" y="-24857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实验设置与评价指标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43571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8852" y="1417320"/>
            <a:ext cx="5553710" cy="573405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比较方法：Kernel、Affine transformation (AF)、Thin-plate spline (TPS)。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2155307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674" y="2137020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交叉验证：所有病例轮流作为测试数据。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264905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674" y="2630771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 fontScale="9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核心变量：landmark 数量、landmark 覆盖区域、训练病例数量。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6081" y="314280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•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8674" y="3124521"/>
            <a:ext cx="519352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RMSE / HD 越小越好；DSC 越接近 1 越好。</a:t>
            </a:r>
            <a:endParaRPr lang="en-US" sz="15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36" y="1554578"/>
            <a:ext cx="4388891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评价指标</a:t>
            </a:r>
            <a:endParaRPr lang="en-US" sz="1400" b="1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36" y="2057471"/>
            <a:ext cx="484606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RMSE：顶点局部位置误差的均方根，单位 mm，越小越好。</a:t>
            </a:r>
            <a:endParaRPr lang="en-US" sz="12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36" y="2788953"/>
            <a:ext cx="484606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HD：Hausdorff distance，边界点集最大距离，单位 mm，越小越好。</a:t>
            </a:r>
            <a:endParaRPr lang="en-US" sz="12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37936" y="3520435"/>
            <a:ext cx="4846068" cy="64004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DSC：Dice similarity coefficient，估计网格与真实塌陷肺的体积重叠度，越接近 1 越好。</a:t>
            </a:r>
            <a:endParaRPr lang="en-US" sz="12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3211" y="6528655"/>
            <a:ext cx="11155099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Yamamoto et al., Expert Systems with Applications, 2021   |   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16" y="-27397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主结果：6 个与 3 个 landmark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081" y="1371707"/>
            <a:ext cx="5120373" cy="256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6-landmark model</a:t>
            </a:r>
            <a:endParaRPr lang="en-US" sz="1350" b="1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6081" y="1783166"/>
            <a:ext cx="10697923" cy="155439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上叶：Kernel  RMSE 2.74 ± 0.52 mm，DSC 0.90 ± 0.02，HD 6.11 ± 1.28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      AF/TPS   RMSE 3.58 / 3.44 mm，DSC 0.80 / 0.81，HD 7.65 / 7.63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下叶：Kernel  RMSE 3.04 ± 0.63 mm，DSC 0.94 ± 0.01，HD 6.29 ± 1.11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      AF/TPS   RMSE 3.56 / 3.40 mm，DSC 0.90 / 0.90，HD 8.38 / 8.45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6081" y="3657588"/>
            <a:ext cx="5120373" cy="256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3-landmark model</a:t>
            </a:r>
            <a:endParaRPr lang="en-US" sz="1350" b="1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6081" y="4069047"/>
            <a:ext cx="10697923" cy="10515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上叶：Kernel  RMSE 3.86 ± 0.90 mm，DSC 0.87 ± 0.04，HD 7.87 ± 0.74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下叶：Kernel  RMSE 3.55 ± 0.85 mm，DSC 0.91 ± 0.02，HD 7.41 ± 2.15 mm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13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AF/TPS：RMSE 约 40-45 mm，DSC 为 0，HD 约 85-95 mm；论文认为未得到合理肺形状。</a:t>
            </a:r>
            <a:endParaRPr lang="en-US" sz="113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081" y="5596015"/>
            <a:ext cx="10880793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结果解读：Kernel 在 6-landmark 条件下优于 AF/TPS；在 3-landmark 条件下 AF/TPS 基本失效，而 Kernel 仍能给出可用估计。</a:t>
            </a:r>
            <a:endParaRPr lang="en-US" sz="125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16" y="-27397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 Landmark 数量与覆盖区域的影响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pic>
        <p:nvPicPr>
          <p:cNvPr id="4" name="Image 0" descr="/mnt/data/figs/img-0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511" y="1325990"/>
            <a:ext cx="7902216" cy="36116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6081" y="5303422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78674" y="5285135"/>
            <a:ext cx="10588201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主要结论：landmark 覆盖区域比数量本身更关键。</a:t>
            </a:r>
            <a:endParaRPr lang="en-US" sz="11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6081" y="5696594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78674" y="5678307"/>
            <a:ext cx="10588201" cy="573299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6-landmark 与 12-landmark 的差距有限；少量稀疏观测具有可行性。</a:t>
            </a:r>
            <a:endParaRPr lang="en-US" sz="11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11" y="311058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9. 训练病例数量的影响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pic>
        <p:nvPicPr>
          <p:cNvPr id="4" name="Image 0" descr="/mnt/data/figs/img-0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081" y="1432483"/>
            <a:ext cx="10835076" cy="2530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6081" y="4160482"/>
            <a:ext cx="10835076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Fig. 6  训练病例数从 1 到 8 的性能变化</a:t>
            </a:r>
            <a:endParaRPr lang="en-US" sz="850" dirty="0">
              <a:solidFill>
                <a:srgbClr val="555555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823234" y="477309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1115827" y="4754811"/>
            <a:ext cx="10222460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误差从 1 个训练病例到 3 个训练病例下降明显。</a:t>
            </a:r>
            <a:endParaRPr lang="en-US" sz="13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823234" y="5266848"/>
            <a:ext cx="164583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115827" y="5248561"/>
            <a:ext cx="10222460" cy="347454"/>
          </a:xfrm>
          <a:prstGeom prst="rect">
            <a:avLst/>
          </a:prstGeom>
          <a:noFill/>
        </p:spPr>
        <p:txBody>
          <a:bodyPr wrap="square" lIns="126" tIns="126" rIns="126" bIns="126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Noto Sans CJK SC" pitchFamily="34" charset="-120"/>
              </a:rPr>
              <a:t>超过 4 个病例后，平均误差改善幅度有限。</a:t>
            </a:r>
            <a:endParaRPr lang="en-US" sz="1300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92061" y="-92"/>
            <a:ext cx="11155099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猪肺</a:t>
            </a:r>
            <a:r>
              <a:rPr lang="zh-CN" altLang="en-US" sz="2300" b="1" dirty="0">
                <a:solidFill>
                  <a:srgbClr val="111111"/>
                </a:solidFill>
                <a:latin typeface="Calibri Light" panose="020F0302020204030204" charset="0"/>
                <a:ea typeface="宋体" panose="02010600030101010101" pitchFamily="2" charset="-122"/>
                <a:cs typeface="Noto Sans CJK SC" pitchFamily="34" charset="-120"/>
              </a:rPr>
              <a:t>粗分割</a:t>
            </a:r>
            <a:endParaRPr lang="en-US" sz="2300" b="1" dirty="0">
              <a:solidFill>
                <a:srgbClr val="111111"/>
              </a:solidFill>
              <a:latin typeface="Calibri Light" panose="020F0302020204030204" charset="0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4427" y="768350"/>
            <a:ext cx="960501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原始 </a:t>
            </a:r>
            <a:r>
              <a:rPr lang="en-US" altLang="zh-CN" sz="1600"/>
              <a:t>CT → </a:t>
            </a:r>
            <a:r>
              <a:rPr lang="zh-CN" altLang="en-US" sz="1600"/>
              <a:t>扣床板并填成空气 </a:t>
            </a:r>
            <a:r>
              <a:rPr lang="en-US" altLang="zh-CN" sz="1600"/>
              <a:t>HU=-1000 → </a:t>
            </a:r>
            <a:r>
              <a:rPr lang="zh-CN" altLang="en-US" sz="1600"/>
              <a:t>逐层按圆</a:t>
            </a:r>
            <a:r>
              <a:rPr lang="en-US" altLang="zh-CN" sz="1600"/>
              <a:t>/</a:t>
            </a:r>
            <a:r>
              <a:rPr lang="zh-CN" altLang="en-US" sz="1600"/>
              <a:t>椭圆扣左侧瓶子并填成空气 </a:t>
            </a:r>
            <a:r>
              <a:rPr lang="en-US" altLang="zh-CN" sz="1600"/>
              <a:t>→ </a:t>
            </a:r>
            <a:r>
              <a:rPr lang="zh-CN" altLang="en-US" sz="1600"/>
              <a:t>再做肺部 </a:t>
            </a:r>
            <a:r>
              <a:rPr lang="en-US" altLang="zh-CN" sz="1600"/>
              <a:t>mask</a:t>
            </a:r>
            <a:r>
              <a:rPr lang="zh-CN" altLang="en-US" sz="1600"/>
              <a:t>，目前肺部分割还不合格，简单 </a:t>
            </a:r>
            <a:r>
              <a:rPr lang="en-US" altLang="zh-CN" sz="1600"/>
              <a:t>envelope </a:t>
            </a:r>
            <a:r>
              <a:rPr lang="zh-CN" altLang="en-US" sz="1600"/>
              <a:t>算法会把外部空气/瓶子边缘附近区域又连进来，后面先接入一些公开模型</a:t>
            </a:r>
            <a:r>
              <a:rPr lang="zh-CN" altLang="en-US" sz="1600"/>
              <a:t>尝试分割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27" y="1598295"/>
            <a:ext cx="4895215" cy="5222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687" y="1598295"/>
            <a:ext cx="3916045" cy="5222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22" y="1192530"/>
            <a:ext cx="4610100" cy="4918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087" y="1192530"/>
            <a:ext cx="3688080" cy="49180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223115" cy="6813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105.12543750000005,&quot;left&quot;:64.796625,&quot;top&quot;:374.3945625,&quot;width&quot;:828.003375}"/>
</p:tagLst>
</file>

<file path=ppt/tags/tag3.xml><?xml version="1.0" encoding="utf-8"?>
<p:tagLst xmlns:p="http://schemas.openxmlformats.org/presentationml/2006/main">
  <p:tag name="KSO_WM_DIAGRAM_VIRTUALLY_FRAME" val="{&quot;height&quot;:105.12543750000005,&quot;left&quot;:64.796625,&quot;top&quot;:374.3945625,&quot;width&quot;:828.003375}"/>
</p:tagLst>
</file>

<file path=ppt/tags/tag4.xml><?xml version="1.0" encoding="utf-8"?>
<p:tagLst xmlns:p="http://schemas.openxmlformats.org/presentationml/2006/main">
  <p:tag name="KSO_WM_DIAGRAM_VIRTUALLY_FRAME" val="{&quot;height&quot;:105.12543750000005,&quot;left&quot;:64.796625,&quot;top&quot;:374.3945625,&quot;width&quot;:828.003375}"/>
</p:tagLst>
</file>

<file path=ppt/tags/tag5.xml><?xml version="1.0" encoding="utf-8"?>
<p:tagLst xmlns:p="http://schemas.openxmlformats.org/presentationml/2006/main">
  <p:tag name="KSO_WM_DIAGRAM_VIRTUALLY_FRAME" val="{&quot;height&quot;:105.12543750000005,&quot;left&quot;:64.796625,&quot;top&quot;:374.3945625,&quot;width&quot;:828.003375}"/>
</p:tagLst>
</file>

<file path=ppt/tags/tag6.xml><?xml version="1.0" encoding="utf-8"?>
<p:tagLst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cdb2004134l">
  <a:themeElements>
    <a:clrScheme name="134TGp_report_diagram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134TGp_report_diagra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34TGp_report_diagram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2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4972BB"/>
        </a:accent1>
        <a:accent2>
          <a:srgbClr val="6A99D8"/>
        </a:accent2>
        <a:accent3>
          <a:srgbClr val="FFFFFF"/>
        </a:accent3>
        <a:accent4>
          <a:srgbClr val="1C2E6A"/>
        </a:accent4>
        <a:accent5>
          <a:srgbClr val="B1BCDA"/>
        </a:accent5>
        <a:accent6>
          <a:srgbClr val="5F8AC4"/>
        </a:accent6>
        <a:hlink>
          <a:srgbClr val="96B1E6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3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6E51A7"/>
        </a:accent1>
        <a:accent2>
          <a:srgbClr val="8C8EE0"/>
        </a:accent2>
        <a:accent3>
          <a:srgbClr val="FFFFFF"/>
        </a:accent3>
        <a:accent4>
          <a:srgbClr val="1C2E6A"/>
        </a:accent4>
        <a:accent5>
          <a:srgbClr val="BAB3D0"/>
        </a:accent5>
        <a:accent6>
          <a:srgbClr val="7E80CB"/>
        </a:accent6>
        <a:hlink>
          <a:srgbClr val="96B1E6"/>
        </a:hlink>
        <a:folHlink>
          <a:srgbClr val="7BB32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134TGp_report_diagram 2">
    <a:dk1>
      <a:srgbClr val="23387D"/>
    </a:dk1>
    <a:lt1>
      <a:srgbClr val="FFFFFF"/>
    </a:lt1>
    <a:dk2>
      <a:srgbClr val="1A3D97"/>
    </a:dk2>
    <a:lt2>
      <a:srgbClr val="DDDDDD"/>
    </a:lt2>
    <a:accent1>
      <a:srgbClr val="4972BB"/>
    </a:accent1>
    <a:accent2>
      <a:srgbClr val="6A99D8"/>
    </a:accent2>
    <a:accent3>
      <a:srgbClr val="FFFFFF"/>
    </a:accent3>
    <a:accent4>
      <a:srgbClr val="1C2E6A"/>
    </a:accent4>
    <a:accent5>
      <a:srgbClr val="B1BCDA"/>
    </a:accent5>
    <a:accent6>
      <a:srgbClr val="5F8AC4"/>
    </a:accent6>
    <a:hlink>
      <a:srgbClr val="96B1E6"/>
    </a:hlink>
    <a:folHlink>
      <a:srgbClr val="99C25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cdb2004134l</Template>
  <TotalTime>0</TotalTime>
  <Words>2970</Words>
  <Application>WPS 演示</Application>
  <PresentationFormat>宽屏</PresentationFormat>
  <Paragraphs>224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Verdana</vt:lpstr>
      <vt:lpstr>微软雅黑</vt:lpstr>
      <vt:lpstr>Calibri</vt:lpstr>
      <vt:lpstr>黑体</vt:lpstr>
      <vt:lpstr>Times New Roman</vt:lpstr>
      <vt:lpstr>仿宋</vt:lpstr>
      <vt:lpstr>Arial Unicode MS</vt:lpstr>
      <vt:lpstr>Noto Sans CJK SC</vt:lpstr>
      <vt:lpstr>Segoe Print</vt:lpstr>
      <vt:lpstr>Noto Sans CJK SC</vt:lpstr>
      <vt:lpstr>Noto Sans CJK SC</vt:lpstr>
      <vt:lpstr>Calibri Light</vt:lpstr>
      <vt:lpstr>MingLiU-ExtB</vt:lpstr>
      <vt:lpstr>cdb2004134l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近期工作</vt:lpstr>
      <vt:lpstr>近期工作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report</dc:title>
  <dc:creator>Yin Jun</dc:creator>
  <cp:lastModifiedBy>我不想毕业丶</cp:lastModifiedBy>
  <cp:revision>1705</cp:revision>
  <cp:lastPrinted>2026-06-13T08:36:00Z</cp:lastPrinted>
  <dcterms:created xsi:type="dcterms:W3CDTF">2026-06-13T08:36:00Z</dcterms:created>
  <dcterms:modified xsi:type="dcterms:W3CDTF">2026-06-27T06:00:31Z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FFE7739262754CCB951FA60987188FC0_13</vt:lpwstr>
  </property>
  <property fmtid="{D5CDD505-2E9C-101B-9397-08002B2CF9AE}" pid="3" name="KSOProductBuildVer">
    <vt:lpwstr>2052-12.1.0.26895</vt:lpwstr>
  </property>
</Properties>
</file>